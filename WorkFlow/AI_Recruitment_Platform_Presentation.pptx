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Aptos"/>
              </a:defRPr>
            </a:pPr>
            <a:r>
              <a:t>AI RECRUITMENT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A1AB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338328"/>
            <a:ext cx="1737360" cy="310896"/>
          </a:xfrm>
          <a:prstGeom prst="roundRect">
            <a:avLst/>
          </a:prstGeom>
          <a:solidFill>
            <a:srgbClr val="19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347472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A1ABBE"/>
                </a:solidFill>
                <a:latin typeface="Aptos"/>
              </a:defRPr>
            </a:pPr>
            <a: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F3F4F6"/>
                </a:solidFill>
                <a:latin typeface="Aptos"/>
              </a:defRPr>
            </a:pPr>
            <a:r>
              <a:t>A recruitment platform built around the real hiring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4475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1ABBE"/>
                </a:solidFill>
                <a:latin typeface="Aptos"/>
              </a:defRPr>
            </a:pPr>
            <a:r>
              <a:t>A business-first workspace for Organization Admins and Recruiters — with the technical complexity kept behind the UI.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57400"/>
            <a:ext cx="10972800" cy="77724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457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1488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3F4F6"/>
                </a:solidFill>
                <a:latin typeface="Aptos"/>
              </a:defRPr>
            </a:pPr>
            <a:r>
              <a:t>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176272"/>
            <a:ext cx="457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21488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3F4F6"/>
                </a:solidFill>
                <a:latin typeface="Aptos"/>
              </a:defRPr>
            </a:pPr>
            <a:r>
              <a:t>Candidates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2176272"/>
            <a:ext cx="457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1488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3F4F6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33104" y="2176272"/>
            <a:ext cx="457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21488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3F4F6"/>
                </a:solidFill>
                <a:latin typeface="Aptos"/>
              </a:defRPr>
            </a:pPr>
            <a:r>
              <a:t>Recruitment stages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154680"/>
            <a:ext cx="3474720" cy="2423160"/>
          </a:xfrm>
          <a:prstGeom prst="roundRect">
            <a:avLst/>
          </a:prstGeom>
          <a:solidFill>
            <a:srgbClr val="141926"/>
          </a:solidFill>
          <a:ln>
            <a:solidFill>
              <a:srgbClr val="2A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5528" y="3337560"/>
            <a:ext cx="1097280" cy="310896"/>
          </a:xfrm>
          <a:prstGeom prst="roundRect">
            <a:avLst/>
          </a:prstGeom>
          <a:solidFill>
            <a:srgbClr val="27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346704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818CF8"/>
                </a:solidFill>
                <a:latin typeface="Aptos"/>
              </a:defRPr>
            </a:pPr>
            <a:r>
              <a:t>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776472"/>
            <a:ext cx="307238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3F4F6"/>
                </a:solidFill>
                <a:latin typeface="Aptos"/>
              </a:defRPr>
            </a:pPr>
            <a:r>
              <a:t>One hiring workspace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178808"/>
            <a:ext cx="3072384" cy="1252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1ABBE"/>
                </a:solidFill>
                <a:latin typeface="Aptos"/>
              </a:defRPr>
            </a:pPr>
            <a:r>
              <a:t>Create jobs, publish openings, receive applications, store resumes, review candidates and manage application progress from one portal.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154680"/>
            <a:ext cx="3474720" cy="2423160"/>
          </a:xfrm>
          <a:prstGeom prst="roundRect">
            <a:avLst/>
          </a:prstGeom>
          <a:solidFill>
            <a:srgbClr val="141926"/>
          </a:solidFill>
          <a:ln>
            <a:solidFill>
              <a:srgbClr val="2A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0" y="3337560"/>
            <a:ext cx="1097280" cy="310896"/>
          </a:xfrm>
          <a:prstGeom prst="roundRect">
            <a:avLst/>
          </a:prstGeom>
          <a:solidFill>
            <a:srgbClr val="27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346704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DD4BF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776472"/>
            <a:ext cx="307238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3F4F6"/>
                </a:solidFill>
                <a:latin typeface="Aptos"/>
              </a:defRPr>
            </a:pPr>
            <a:r>
              <a:t>Two operational roles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178808"/>
            <a:ext cx="3072384" cy="1252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1ABBE"/>
                </a:solidFill>
                <a:latin typeface="Aptos"/>
              </a:defRPr>
            </a:pPr>
            <a:r>
              <a:t>Organization Admin oversees organization-level operations and team access. Recruiters handle day-to-day hiring activities.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7304" y="3154680"/>
            <a:ext cx="3419856" cy="2423160"/>
          </a:xfrm>
          <a:prstGeom prst="roundRect">
            <a:avLst/>
          </a:prstGeom>
          <a:solidFill>
            <a:srgbClr val="141926"/>
          </a:solidFill>
          <a:ln>
            <a:solidFill>
              <a:srgbClr val="2A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48472" y="3337560"/>
            <a:ext cx="1097280" cy="310896"/>
          </a:xfrm>
          <a:prstGeom prst="roundRect">
            <a:avLst/>
          </a:prstGeom>
          <a:solidFill>
            <a:srgbClr val="27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8472" y="3346704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BBF24"/>
                </a:solidFill>
                <a:latin typeface="Aptos"/>
              </a:defRPr>
            </a:pPr>
            <a:r>
              <a:t>UX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3776472"/>
            <a:ext cx="3017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3F4F6"/>
                </a:solidFill>
                <a:latin typeface="Aptos"/>
              </a:defRPr>
            </a:pPr>
            <a:r>
              <a:t>Clean business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2" y="4178808"/>
            <a:ext cx="3017520" cy="1252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1ABBE"/>
                </a:solidFill>
                <a:latin typeface="Aptos"/>
              </a:defRPr>
            </a:pPr>
            <a:r>
              <a:t>Normal users do not need to see tenancy, RLS, internal IDs or database concepts. Platform-level detail remains with Super Admin.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5989320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1ABBE"/>
                </a:solidFill>
                <a:latin typeface="Aptos"/>
              </a:defRPr>
            </a:pPr>
            <a:r>
              <a:t>The demo goal: make the hiring workflow easy to understand by following one candidate from job discovery to recruiter review.</a:t>
            </a:r>
          </a:p>
        </p:txBody>
      </p:sp>
    </p:spTree>
  </p:cSld>
  <p:clrMapOvr>
    <a:masterClrMapping/>
  </p:clrMapOvr>
  <p:transition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Aptos"/>
              </a:defRPr>
            </a:pPr>
            <a:r>
              <a:t>AI RECRUITMENT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A1AB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338328"/>
            <a:ext cx="1737360" cy="310896"/>
          </a:xfrm>
          <a:prstGeom prst="roundRect">
            <a:avLst/>
          </a:prstGeom>
          <a:solidFill>
            <a:srgbClr val="19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347472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A1ABBE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F3F4F6"/>
                </a:solidFill>
                <a:latin typeface="Aptos"/>
              </a:defRPr>
            </a:pPr>
            <a:r>
              <a:t>How Organization Admins and Recruiters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4475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1ABBE"/>
                </a:solidFill>
                <a:latin typeface="Aptos"/>
              </a:defRPr>
            </a:pPr>
            <a:r>
              <a:t>The strongest demo is a single end-to-end journey, not a tour of disconnected screens.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19072" y="2761488"/>
            <a:ext cx="502920" cy="32004"/>
          </a:xfrm>
          <a:prstGeom prst="rect">
            <a:avLst/>
          </a:prstGeom>
          <a:solidFill>
            <a:srgbClr val="41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0352" y="2148840"/>
            <a:ext cx="1325880" cy="1234440"/>
          </a:xfrm>
          <a:prstGeom prst="roundRect">
            <a:avLst/>
          </a:prstGeom>
          <a:solidFill>
            <a:srgbClr val="141926"/>
          </a:solidFill>
          <a:ln>
            <a:solidFill>
              <a:srgbClr val="34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2304288"/>
            <a:ext cx="411480" cy="310896"/>
          </a:xfrm>
          <a:prstGeom prst="roundRect">
            <a:avLst/>
          </a:prstGeom>
          <a:solidFill>
            <a:srgbClr val="27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313432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DD4B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706624"/>
            <a:ext cx="103327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3F4F6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063240"/>
            <a:ext cx="1033271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80" b="0">
                <a:solidFill>
                  <a:srgbClr val="A1ABBE"/>
                </a:solidFill>
                <a:latin typeface="Aptos"/>
              </a:defRPr>
            </a:pPr>
            <a:r>
              <a:t>Recruiter enters the portal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761488"/>
            <a:ext cx="502920" cy="32004"/>
          </a:xfrm>
          <a:prstGeom prst="rect">
            <a:avLst/>
          </a:prstGeom>
          <a:solidFill>
            <a:srgbClr val="41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94560" y="2148840"/>
            <a:ext cx="1325880" cy="1234440"/>
          </a:xfrm>
          <a:prstGeom prst="roundRect">
            <a:avLst/>
          </a:prstGeom>
          <a:solidFill>
            <a:srgbClr val="141926"/>
          </a:solidFill>
          <a:ln>
            <a:solidFill>
              <a:srgbClr val="34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340864" y="2304288"/>
            <a:ext cx="411480" cy="310896"/>
          </a:xfrm>
          <a:prstGeom prst="roundRect">
            <a:avLst/>
          </a:prstGeom>
          <a:solidFill>
            <a:srgbClr val="27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40864" y="2313432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DD4B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0864" y="2706624"/>
            <a:ext cx="103327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3F4F6"/>
                </a:solidFill>
                <a:latin typeface="Aptos"/>
              </a:defRPr>
            </a:pPr>
            <a:r>
              <a:t>CREATE JOB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0864" y="3063240"/>
            <a:ext cx="1033271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80" b="0">
                <a:solidFill>
                  <a:srgbClr val="A1ABBE"/>
                </a:solidFill>
                <a:latin typeface="Aptos"/>
              </a:defRPr>
            </a:pPr>
            <a:r>
              <a:t>Adds job details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47488" y="2761488"/>
            <a:ext cx="502920" cy="32004"/>
          </a:xfrm>
          <a:prstGeom prst="rect">
            <a:avLst/>
          </a:prstGeom>
          <a:solidFill>
            <a:srgbClr val="41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58768" y="2148840"/>
            <a:ext cx="1325880" cy="1234440"/>
          </a:xfrm>
          <a:prstGeom prst="roundRect">
            <a:avLst/>
          </a:prstGeom>
          <a:solidFill>
            <a:srgbClr val="141926"/>
          </a:solidFill>
          <a:ln>
            <a:solidFill>
              <a:srgbClr val="34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05072" y="2304288"/>
            <a:ext cx="411480" cy="310896"/>
          </a:xfrm>
          <a:prstGeom prst="roundRect">
            <a:avLst/>
          </a:prstGeom>
          <a:solidFill>
            <a:srgbClr val="27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2313432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DD4B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5072" y="2706624"/>
            <a:ext cx="103327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3F4F6"/>
                </a:solidFill>
                <a:latin typeface="Aptos"/>
              </a:defRPr>
            </a:pPr>
            <a:r>
              <a:t>PUBLISH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5072" y="3063240"/>
            <a:ext cx="1033271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80" b="0">
                <a:solidFill>
                  <a:srgbClr val="A1ABBE"/>
                </a:solidFill>
                <a:latin typeface="Aptos"/>
              </a:defRPr>
            </a:pPr>
            <a:r>
              <a:t>Opening becomes public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11696" y="2761488"/>
            <a:ext cx="502920" cy="32004"/>
          </a:xfrm>
          <a:prstGeom prst="rect">
            <a:avLst/>
          </a:prstGeom>
          <a:solidFill>
            <a:srgbClr val="41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22976" y="2148840"/>
            <a:ext cx="1325880" cy="1234440"/>
          </a:xfrm>
          <a:prstGeom prst="roundRect">
            <a:avLst/>
          </a:prstGeom>
          <a:solidFill>
            <a:srgbClr val="141926"/>
          </a:solidFill>
          <a:ln>
            <a:solidFill>
              <a:srgbClr val="34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0" y="2304288"/>
            <a:ext cx="411480" cy="310896"/>
          </a:xfrm>
          <a:prstGeom prst="roundRect">
            <a:avLst/>
          </a:prstGeom>
          <a:solidFill>
            <a:srgbClr val="27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0" y="2313432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DD4B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2706624"/>
            <a:ext cx="103327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3F4F6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3063240"/>
            <a:ext cx="1033271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80" b="0">
                <a:solidFill>
                  <a:srgbClr val="A1ABBE"/>
                </a:solidFill>
                <a:latin typeface="Aptos"/>
              </a:defRPr>
            </a:pPr>
            <a:r>
              <a:t>Candidate submits details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75904" y="2761488"/>
            <a:ext cx="502920" cy="32004"/>
          </a:xfrm>
          <a:prstGeom prst="rect">
            <a:avLst/>
          </a:prstGeom>
          <a:solidFill>
            <a:srgbClr val="41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187184" y="2148840"/>
            <a:ext cx="1325880" cy="1234440"/>
          </a:xfrm>
          <a:prstGeom prst="roundRect">
            <a:avLst/>
          </a:prstGeom>
          <a:solidFill>
            <a:srgbClr val="141926"/>
          </a:solidFill>
          <a:ln>
            <a:solidFill>
              <a:srgbClr val="34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33488" y="2304288"/>
            <a:ext cx="411480" cy="310896"/>
          </a:xfrm>
          <a:prstGeom prst="roundRect">
            <a:avLst/>
          </a:prstGeom>
          <a:solidFill>
            <a:srgbClr val="27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33488" y="2313432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DD4B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33488" y="2706624"/>
            <a:ext cx="103327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3F4F6"/>
                </a:solidFill>
                <a:latin typeface="Aptos"/>
              </a:defRPr>
            </a:pPr>
            <a:r>
              <a:t>RESUME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33488" y="3063240"/>
            <a:ext cx="1033271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80" b="0">
                <a:solidFill>
                  <a:srgbClr val="A1ABBE"/>
                </a:solidFill>
                <a:latin typeface="Aptos"/>
              </a:defRPr>
            </a:pPr>
            <a:r>
              <a:t>File is validated + stored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40112" y="2761488"/>
            <a:ext cx="502920" cy="32004"/>
          </a:xfrm>
          <a:prstGeom prst="rect">
            <a:avLst/>
          </a:prstGeom>
          <a:solidFill>
            <a:srgbClr val="41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851392" y="2148840"/>
            <a:ext cx="1325880" cy="1234440"/>
          </a:xfrm>
          <a:prstGeom prst="roundRect">
            <a:avLst/>
          </a:prstGeom>
          <a:solidFill>
            <a:srgbClr val="141926"/>
          </a:solidFill>
          <a:ln>
            <a:solidFill>
              <a:srgbClr val="34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97696" y="2304288"/>
            <a:ext cx="411480" cy="310896"/>
          </a:xfrm>
          <a:prstGeom prst="roundRect">
            <a:avLst/>
          </a:prstGeom>
          <a:solidFill>
            <a:srgbClr val="27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97696" y="2313432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DD4B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97696" y="2706624"/>
            <a:ext cx="103327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3F4F6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97696" y="3063240"/>
            <a:ext cx="1033271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80" b="0">
                <a:solidFill>
                  <a:srgbClr val="A1ABBE"/>
                </a:solidFill>
                <a:latin typeface="Aptos"/>
              </a:defRPr>
            </a:pPr>
            <a:r>
              <a:t>Recruiter opens candidate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15600" y="2148840"/>
            <a:ext cx="1325880" cy="1234440"/>
          </a:xfrm>
          <a:prstGeom prst="roundRect">
            <a:avLst/>
          </a:prstGeom>
          <a:solidFill>
            <a:srgbClr val="141926"/>
          </a:solidFill>
          <a:ln>
            <a:solidFill>
              <a:srgbClr val="34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661904" y="2304288"/>
            <a:ext cx="411480" cy="310896"/>
          </a:xfrm>
          <a:prstGeom prst="roundRect">
            <a:avLst/>
          </a:prstGeom>
          <a:solidFill>
            <a:srgbClr val="27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661904" y="2313432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DD4B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61904" y="2706624"/>
            <a:ext cx="103327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3F4F6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61904" y="3063240"/>
            <a:ext cx="1033271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80" b="0">
                <a:solidFill>
                  <a:srgbClr val="A1ABBE"/>
                </a:solidFill>
                <a:latin typeface="Aptos"/>
              </a:defRPr>
            </a:pPr>
            <a:r>
              <a:t>Application progresses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3977639"/>
            <a:ext cx="5303520" cy="1645920"/>
          </a:xfrm>
          <a:prstGeom prst="roundRect">
            <a:avLst/>
          </a:prstGeom>
          <a:solidFill>
            <a:srgbClr val="141926"/>
          </a:solidFill>
          <a:ln>
            <a:solidFill>
              <a:srgbClr val="2A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95528" y="4160520"/>
            <a:ext cx="1097280" cy="310896"/>
          </a:xfrm>
          <a:prstGeom prst="roundRect">
            <a:avLst/>
          </a:prstGeom>
          <a:solidFill>
            <a:srgbClr val="27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5528" y="4169663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818CF8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8" y="4599431"/>
            <a:ext cx="490118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3F4F6"/>
                </a:solidFill>
                <a:latin typeface="Aptos"/>
              </a:defRPr>
            </a:pPr>
            <a:r>
              <a:t>Organization Admin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8" y="5001768"/>
            <a:ext cx="490118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1ABBE"/>
                </a:solidFill>
                <a:latin typeface="Aptos"/>
              </a:defRPr>
            </a:pPr>
            <a:r>
              <a:t>Login → manage organization users/team access → oversee jobs, candidates and applications → review recruitment operations.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80760" y="3977639"/>
            <a:ext cx="5486400" cy="1645920"/>
          </a:xfrm>
          <a:prstGeom prst="roundRect">
            <a:avLst/>
          </a:prstGeom>
          <a:solidFill>
            <a:srgbClr val="141926"/>
          </a:solidFill>
          <a:ln>
            <a:solidFill>
              <a:srgbClr val="2A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281928" y="4160520"/>
            <a:ext cx="1097280" cy="310896"/>
          </a:xfrm>
          <a:prstGeom prst="roundRect">
            <a:avLst/>
          </a:prstGeom>
          <a:solidFill>
            <a:srgbClr val="27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81928" y="4169663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DD4BF"/>
                </a:solidFill>
                <a:latin typeface="Aptos"/>
              </a:defRPr>
            </a:pPr>
            <a:r>
              <a:t>RECRUITER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81928" y="4599431"/>
            <a:ext cx="50840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3F4F6"/>
                </a:solidFill>
                <a:latin typeface="Aptos"/>
              </a:defRPr>
            </a:pPr>
            <a:r>
              <a:t>Recruiter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81928" y="5001768"/>
            <a:ext cx="508406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1ABBE"/>
                </a:solidFill>
                <a:latin typeface="Aptos"/>
              </a:defRPr>
            </a:pPr>
            <a:r>
              <a:t>Login → create/publish jobs → review incoming applications → open candidate details and resume → update application status.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5897880"/>
            <a:ext cx="10972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1ABBE"/>
                </a:solidFill>
                <a:latin typeface="Aptos"/>
              </a:defRPr>
            </a:pPr>
            <a:r>
              <a:t>Candidate-facing side: public job page → application form → resume upload → confirmation / appropriate email notification.</a:t>
            </a:r>
          </a:p>
        </p:txBody>
      </p:sp>
    </p:spTree>
  </p:cSld>
  <p:clrMapOvr>
    <a:masterClrMapping/>
  </p:clrMapOvr>
  <p:transition advClick="1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Aptos"/>
              </a:defRPr>
            </a:pPr>
            <a:r>
              <a:t>AI RECRUITMENT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A1AB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338328"/>
            <a:ext cx="1737360" cy="310896"/>
          </a:xfrm>
          <a:prstGeom prst="roundRect">
            <a:avLst/>
          </a:prstGeom>
          <a:solidFill>
            <a:srgbClr val="19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347472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A1ABBE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F3F4F6"/>
                </a:solidFill>
                <a:latin typeface="Aptos"/>
              </a:defRPr>
            </a:pPr>
            <a:r>
              <a:t>What is working now — and what comes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4475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1ABBE"/>
                </a:solidFill>
                <a:latin typeface="Aptos"/>
              </a:defRPr>
            </a:pPr>
            <a:r>
              <a:t>The local demo is the acceptance gate. Production comes only after the complete workflow is stable and accepted.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29968"/>
            <a:ext cx="5486400" cy="4297680"/>
          </a:xfrm>
          <a:prstGeom prst="roundRect">
            <a:avLst/>
          </a:prstGeom>
          <a:solidFill>
            <a:srgbClr val="141926"/>
          </a:solidFill>
          <a:ln>
            <a:solidFill>
              <a:srgbClr val="2A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2267712"/>
            <a:ext cx="1143000" cy="310896"/>
          </a:xfrm>
          <a:prstGeom prst="roundRect">
            <a:avLst/>
          </a:prstGeom>
          <a:solidFill>
            <a:srgbClr val="183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276856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4ADE80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697480"/>
            <a:ext cx="4846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3F4F6"/>
                </a:solidFill>
                <a:latin typeface="Aptos"/>
              </a:defRPr>
            </a:pPr>
            <a:r>
              <a:t>Core local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82112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163824"/>
            <a:ext cx="45262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A1ABBE"/>
                </a:solidFill>
                <a:latin typeface="Aptos"/>
              </a:defRPr>
            </a:pPr>
            <a:r>
              <a:t>Authentication + role-based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11296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493008"/>
            <a:ext cx="45262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A1ABBE"/>
                </a:solidFill>
                <a:latin typeface="Aptos"/>
              </a:defRPr>
            </a:pPr>
            <a:r>
              <a:t>Responsive desktop / tablet / mobile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40480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822192"/>
            <a:ext cx="45262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A1ABBE"/>
                </a:solidFill>
                <a:latin typeface="Aptos"/>
              </a:defRPr>
            </a:pPr>
            <a:r>
              <a:t>Dark / Light mode with 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9664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4151376"/>
            <a:ext cx="45262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A1ABBE"/>
                </a:solidFill>
                <a:latin typeface="Aptos"/>
              </a:defRPr>
            </a:pPr>
            <a:r>
              <a:t>Public jobs + applicant-facing application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98848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480560"/>
            <a:ext cx="45262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A1ABBE"/>
                </a:solidFill>
                <a:latin typeface="Aptos"/>
              </a:defRPr>
            </a:pPr>
            <a:r>
              <a:t>Resume upload + local backend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28032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4809744"/>
            <a:ext cx="45262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A1ABBE"/>
                </a:solidFill>
                <a:latin typeface="Aptos"/>
              </a:defRPr>
            </a:pPr>
            <a:r>
              <a:t>PostgreSQL candidate / application 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57216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5138928"/>
            <a:ext cx="45262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A1ABBE"/>
                </a:solidFill>
                <a:latin typeface="Aptos"/>
              </a:defRPr>
            </a:pPr>
            <a:r>
              <a:t>Candidate details + recruiter resume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486400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5468112"/>
            <a:ext cx="45262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A1ABBE"/>
                </a:solidFill>
                <a:latin typeface="Aptos"/>
              </a:defRPr>
            </a:pPr>
            <a:r>
              <a:t>Search / filtering + live Reports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15584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797296"/>
            <a:ext cx="45262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A1ABBE"/>
                </a:solidFill>
                <a:latin typeface="Aptos"/>
              </a:defRPr>
            </a:pPr>
            <a:r>
              <a:t>Latest audit: backend 69/69 tests passing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2029968"/>
            <a:ext cx="5257800" cy="4297680"/>
          </a:xfrm>
          <a:prstGeom prst="roundRect">
            <a:avLst/>
          </a:prstGeom>
          <a:solidFill>
            <a:srgbClr val="141926"/>
          </a:solidFill>
          <a:ln>
            <a:solidFill>
              <a:srgbClr val="2A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56248" y="2267712"/>
            <a:ext cx="1143000" cy="310896"/>
          </a:xfrm>
          <a:prstGeom prst="roundRect">
            <a:avLst/>
          </a:prstGeom>
          <a:solidFill>
            <a:srgbClr val="27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6248" y="2276856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818CF8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6248" y="2697480"/>
            <a:ext cx="4572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3F4F6"/>
                </a:solidFill>
                <a:latin typeface="Aptos"/>
              </a:defRPr>
            </a:pPr>
            <a:r>
              <a:t>Progressive phases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56248" y="3172968"/>
            <a:ext cx="1078992" cy="310896"/>
          </a:xfrm>
          <a:prstGeom prst="roundRect">
            <a:avLst/>
          </a:prstGeom>
          <a:solidFill>
            <a:srgbClr val="27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56248" y="3182112"/>
            <a:ext cx="10789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818CF8"/>
                </a:solidFill>
                <a:latin typeface="Aptos"/>
              </a:defRPr>
            </a:pPr>
            <a:r>
              <a:t>PHASE 5–6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3154680"/>
            <a:ext cx="146304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1">
                <a:solidFill>
                  <a:srgbClr val="F3F4F6"/>
                </a:solidFill>
                <a:latin typeface="Aptos"/>
              </a:defRPr>
            </a:pPr>
            <a:r>
              <a:t>AI Screening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154680"/>
            <a:ext cx="192024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A1ABBE"/>
                </a:solidFill>
                <a:latin typeface="Aptos"/>
              </a:defRPr>
            </a:pPr>
            <a:r>
              <a:t>Real provider + screening results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56248" y="3648456"/>
            <a:ext cx="1078992" cy="310896"/>
          </a:xfrm>
          <a:prstGeom prst="roundRect">
            <a:avLst/>
          </a:prstGeom>
          <a:solidFill>
            <a:srgbClr val="27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56248" y="3657600"/>
            <a:ext cx="10789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818CF8"/>
                </a:solidFill>
                <a:latin typeface="Aptos"/>
              </a:defRPr>
            </a:pPr>
            <a:r>
              <a:t>PHASE 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630168"/>
            <a:ext cx="146304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1">
                <a:solidFill>
                  <a:srgbClr val="F3F4F6"/>
                </a:solidFill>
                <a:latin typeface="Aptos"/>
              </a:defRPr>
            </a:pPr>
            <a:r>
              <a:t>Assessments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3630168"/>
            <a:ext cx="192024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A1ABBE"/>
                </a:solidFill>
                <a:latin typeface="Aptos"/>
              </a:defRPr>
            </a:pPr>
            <a:r>
              <a:t>Assign, submit, review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56248" y="4123944"/>
            <a:ext cx="1078992" cy="310896"/>
          </a:xfrm>
          <a:prstGeom prst="roundRect">
            <a:avLst/>
          </a:prstGeom>
          <a:solidFill>
            <a:srgbClr val="27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56248" y="4133087"/>
            <a:ext cx="10789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818CF8"/>
                </a:solidFill>
                <a:latin typeface="Aptos"/>
              </a:defRPr>
            </a:pPr>
            <a:r>
              <a:t>PHASE 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4105656"/>
            <a:ext cx="146304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1">
                <a:solidFill>
                  <a:srgbClr val="F3F4F6"/>
                </a:solidFill>
                <a:latin typeface="Aptos"/>
              </a:defRPr>
            </a:pPr>
            <a:r>
              <a:t>Campus Drives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4105656"/>
            <a:ext cx="192024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A1ABBE"/>
                </a:solidFill>
                <a:latin typeface="Aptos"/>
              </a:defRPr>
            </a:pPr>
            <a:r>
              <a:t>Drive-based hiring workflow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56248" y="4599431"/>
            <a:ext cx="1078992" cy="310896"/>
          </a:xfrm>
          <a:prstGeom prst="roundRect">
            <a:avLst/>
          </a:prstGeom>
          <a:solidFill>
            <a:srgbClr val="27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6248" y="4608575"/>
            <a:ext cx="10789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818CF8"/>
                </a:solidFill>
                <a:latin typeface="Aptos"/>
              </a:defRPr>
            </a:pPr>
            <a:r>
              <a:t>PHASE 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4581144"/>
            <a:ext cx="146304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1">
                <a:solidFill>
                  <a:srgbClr val="F3F4F6"/>
                </a:solidFill>
                <a:latin typeface="Aptos"/>
              </a:defRPr>
            </a:pPr>
            <a:r>
              <a:t>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4581144"/>
            <a:ext cx="192024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A1ABBE"/>
                </a:solidFill>
                <a:latin typeface="Aptos"/>
              </a:defRPr>
            </a:pPr>
            <a:r>
              <a:t>Recruiter collaboration + notes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56248" y="5074919"/>
            <a:ext cx="1078992" cy="310896"/>
          </a:xfrm>
          <a:prstGeom prst="roundRect">
            <a:avLst/>
          </a:prstGeom>
          <a:solidFill>
            <a:srgbClr val="27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56248" y="5084063"/>
            <a:ext cx="10789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818CF8"/>
                </a:solidFill>
                <a:latin typeface="Aptos"/>
              </a:defRPr>
            </a:pPr>
            <a:r>
              <a:t>PHASE 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5056631"/>
            <a:ext cx="146304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1">
                <a:solidFill>
                  <a:srgbClr val="F3F4F6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5056631"/>
            <a:ext cx="192024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A1ABBE"/>
                </a:solidFill>
                <a:latin typeface="Aptos"/>
              </a:defRPr>
            </a:pPr>
            <a:r>
              <a:t>Expanded recruitment analytics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56248" y="5550407"/>
            <a:ext cx="1078992" cy="310896"/>
          </a:xfrm>
          <a:prstGeom prst="roundRect">
            <a:avLst/>
          </a:prstGeom>
          <a:solidFill>
            <a:srgbClr val="27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56248" y="5559551"/>
            <a:ext cx="10789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818CF8"/>
                </a:solidFill>
                <a:latin typeface="Aptos"/>
              </a:defRPr>
            </a:pPr>
            <a:r>
              <a:t>EMAIL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5532119"/>
            <a:ext cx="146304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1">
                <a:solidFill>
                  <a:srgbClr val="F3F4F6"/>
                </a:solidFill>
                <a:latin typeface="Aptos"/>
              </a:defRPr>
            </a:pPr>
            <a:r>
              <a:t>Resend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0" y="5532119"/>
            <a:ext cx="192024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A1ABBE"/>
                </a:solidFill>
                <a:latin typeface="Aptos"/>
              </a:defRPr>
            </a:pPr>
            <a:r>
              <a:t>Real notification integration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642823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DD4BF"/>
                </a:solidFill>
                <a:latin typeface="Aptos"/>
              </a:defRPr>
            </a:pPr>
            <a:r>
              <a:t>LOCAL ACCEPTANCE  •  Job creation → Candidate application → Resume storage → Recruiter review → Status update</a:t>
            </a:r>
          </a:p>
        </p:txBody>
      </p:sp>
    </p:spTree>
  </p:cSld>
  <p:clrMapOvr>
    <a:masterClrMapping/>
  </p:clrMapOvr>
  <p:transition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